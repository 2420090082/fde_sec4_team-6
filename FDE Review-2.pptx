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12" r:id="rId5"/>
    <p:sldId id="309" r:id="rId6"/>
    <p:sldId id="308" r:id="rId7"/>
    <p:sldId id="30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pos="601" userDrawn="1">
          <p15:clr>
            <a:srgbClr val="A4A3A4"/>
          </p15:clr>
        </p15:guide>
        <p15:guide id="4" pos="45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971"/>
    <a:srgbClr val="1C4C3C"/>
    <a:srgbClr val="F1EAE0"/>
    <a:srgbClr val="9F792F"/>
    <a:srgbClr val="785029"/>
    <a:srgbClr val="E3CEB2"/>
    <a:srgbClr val="648260"/>
    <a:srgbClr val="A49B37"/>
    <a:srgbClr val="006A8A"/>
    <a:srgbClr val="BD7B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880" autoAdjust="0"/>
  </p:normalViewPr>
  <p:slideViewPr>
    <p:cSldViewPr snapToGrid="0" snapToObjects="1" showGuides="1">
      <p:cViewPr varScale="1">
        <p:scale>
          <a:sx n="90" d="100"/>
          <a:sy n="90" d="100"/>
        </p:scale>
        <p:origin x="355" y="72"/>
      </p:cViewPr>
      <p:guideLst>
        <p:guide orient="horz" pos="1272"/>
        <p:guide pos="7056"/>
        <p:guide pos="601"/>
        <p:guide pos="4585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397ADA-28FC-D95C-9949-C2600B76E8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638BB-B5C2-68A8-E3FA-52921DD002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7502F-DB6E-469A-9C44-FB8EDEF15CAD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222EB-9CD6-7377-B538-2102EE87F3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DFD59-EA45-6CD0-571D-72EF11B864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6A3EC-C558-4879-9E77-732F9A1F51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72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17FE1-3397-4E25-A0AD-CD1F478AA28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3C4B0-A82C-497E-A667-41FFA619A4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74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3C4B0-A82C-497E-A667-41FFA619A47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9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DDD5-B179-8D33-E206-E8EC18C65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822960"/>
            <a:ext cx="6840110" cy="46634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1" i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19809-9823-E5C1-322B-DCDB7769D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5559552"/>
            <a:ext cx="6840110" cy="47593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109FC96-A524-9411-F587-93938397D0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93735" y="1"/>
            <a:ext cx="4398265" cy="6857999"/>
          </a:xfrm>
          <a:noFill/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787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4567E9-2483-C330-76B4-52F75C950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822960"/>
            <a:ext cx="4389120" cy="19202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80C9AC2-080F-B7EB-E5D9-98A11923C1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960" y="3529584"/>
            <a:ext cx="4389120" cy="2350008"/>
          </a:xfrm>
        </p:spPr>
        <p:txBody>
          <a:bodyPr/>
          <a:lstStyle>
            <a:lvl1pPr marL="285750" indent="-285750">
              <a:lnSpc>
                <a:spcPts val="25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6">
            <a:extLst>
              <a:ext uri="{FF2B5EF4-FFF2-40B4-BE49-F238E27FC236}">
                <a16:creationId xmlns:a16="http://schemas.microsoft.com/office/drawing/2014/main" id="{A6C9DAC2-F86A-0D7B-2EA8-DAE9CF8E03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0616" y="1"/>
            <a:ext cx="6501385" cy="6857999"/>
          </a:xfrm>
          <a:noFill/>
        </p:spPr>
        <p:txBody>
          <a:bodyPr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F0DBE-FBE3-E653-13B1-8A27023E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8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39096C-E86B-C5A9-1F2F-E4FD0552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8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47C7-955C-FC73-3737-298D139F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822960"/>
            <a:ext cx="4754880" cy="4114800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defRPr sz="5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A9653-6F42-EC48-B443-D3FF0CD0D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5175504"/>
            <a:ext cx="4754880" cy="914400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A5DB37-3750-510E-8CAA-D76AFD5CC5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6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577E-706F-A37B-4229-35D618DD2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822960"/>
            <a:ext cx="4937760" cy="19202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5BFF6-ADF4-B12B-F366-E1E7F245C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3640" y="822960"/>
            <a:ext cx="5111497" cy="3566160"/>
          </a:xfrm>
        </p:spPr>
        <p:txBody>
          <a:bodyPr/>
          <a:lstStyle>
            <a:lvl1pPr marL="283464" indent="-283464">
              <a:defRPr sz="1800">
                <a:solidFill>
                  <a:schemeClr val="bg1"/>
                </a:solidFill>
              </a:defRPr>
            </a:lvl1pPr>
            <a:lvl2pPr indent="-283464">
              <a:defRPr sz="1600">
                <a:solidFill>
                  <a:schemeClr val="bg1"/>
                </a:solidFill>
              </a:defRPr>
            </a:lvl2pPr>
            <a:lvl3pPr indent="-283464">
              <a:defRPr sz="1400">
                <a:solidFill>
                  <a:schemeClr val="bg1"/>
                </a:solidFill>
              </a:defRPr>
            </a:lvl3pPr>
            <a:lvl4pPr indent="-283464">
              <a:defRPr sz="1400">
                <a:solidFill>
                  <a:schemeClr val="bg1"/>
                </a:solidFill>
              </a:defRPr>
            </a:lvl4pPr>
            <a:lvl5pPr indent="-283464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6EAC12B0-20CC-C7DC-2FB8-1B9FE9CCFC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471416"/>
            <a:ext cx="12192000" cy="2386584"/>
          </a:xfrm>
          <a:noFill/>
        </p:spPr>
        <p:txBody>
          <a:bodyPr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78AC046-3CF2-802F-750B-B70D9B89A3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73738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9B26AA9-8344-BF2E-82C8-AF9EDF269B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3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4567E9-2483-C330-76B4-52F75C950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75120" y="822960"/>
            <a:ext cx="4754880" cy="4114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6">
            <a:extLst>
              <a:ext uri="{FF2B5EF4-FFF2-40B4-BE49-F238E27FC236}">
                <a16:creationId xmlns:a16="http://schemas.microsoft.com/office/drawing/2014/main" id="{A6C9DAC2-F86A-0D7B-2EA8-DAE9CF8E03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6099049" cy="6857999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8F38D-10C4-434A-0F9B-619CCAB67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0" y="5175504"/>
            <a:ext cx="4754880" cy="9144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350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2E9B473-9612-90C4-92F3-3DAB99570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822960"/>
            <a:ext cx="4023360" cy="19202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19AD1-1029-1DE8-E36D-41EF92EDB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3529584"/>
            <a:ext cx="4023360" cy="192024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9FE3EB-4655-2339-C82A-C74B21F7655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486400" y="822960"/>
            <a:ext cx="5861305" cy="484632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24F3A78-F067-8639-9E61-32AE80986E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007608"/>
            <a:ext cx="12192000" cy="85039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l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D9871F-9716-E693-46E0-C82668C233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73738" y="627654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B6AA57-B313-9EB7-BDE7-E6B64F9104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92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4567E9-2483-C330-76B4-52F75C950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2282" y="822960"/>
            <a:ext cx="4663440" cy="19202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A5DB37-3750-510E-8CAA-D76AFD5CC5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819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1B91E2B-214A-27EB-DD9A-E9FF3D8BFBD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2282" y="3529584"/>
            <a:ext cx="4663440" cy="2350008"/>
          </a:xfrm>
        </p:spPr>
        <p:txBody>
          <a:bodyPr/>
          <a:lstStyle>
            <a:lvl1pPr marL="2857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0CFB59-AAC5-2429-8ABD-5C7810D2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2282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BF308-C3AC-92A2-F532-FF8180F4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274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B294162-C98D-D8F6-47BD-4CE34B63F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1" y="1097280"/>
            <a:ext cx="10515600" cy="16459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1BAF3EC-96ED-627A-D8DF-71B5521F8C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23150"/>
            <a:ext cx="12192000" cy="667512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DED7F42-DE45-0982-D0EE-364673037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3529584"/>
            <a:ext cx="4937760" cy="210312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6B366AA0-2DAB-8B01-E9CA-4EFD01184A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3529584"/>
            <a:ext cx="4937760" cy="210312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3AD13A-778C-0B94-E890-F60B86ABB58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173738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34822A-F2F6-6134-01C8-6CB9A884CDD6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71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B294162-C98D-D8F6-47BD-4CE34B63F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1097280"/>
            <a:ext cx="10424160" cy="16459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1BAF3EC-96ED-627A-D8DF-71B5521F8C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5836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 marL="0" indent="0" algn="l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DC6F7A-27D8-EC45-FC60-C8858243D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1" y="3529584"/>
            <a:ext cx="3200400" cy="22860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EA7E2BE-086F-5B51-B0E9-BDC91DF14B7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1104" y="3529584"/>
            <a:ext cx="6986016" cy="223113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83E49A-BDF1-7E34-30FE-A4A45160F7A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73738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355B-1B69-AD49-6AB0-3D194609B2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78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B294162-C98D-D8F6-47BD-4CE34B63F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1097280"/>
            <a:ext cx="10424160" cy="16459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1BAF3EC-96ED-627A-D8DF-71B5521F8C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58368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19AD1-1029-1DE8-E36D-41EF92EDB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529584"/>
            <a:ext cx="10360153" cy="2231136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83E49A-BDF1-7E34-30FE-A4A45160F7A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73738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355B-1B69-AD49-6AB0-3D194609B2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4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4567E9-2483-C330-76B4-52F75C950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0833" y="822960"/>
            <a:ext cx="7040880" cy="52120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60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A5DB37-3750-510E-8CAA-D76AFD5CC5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33088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37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B294162-C98D-D8F6-47BD-4CE34B63F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1" y="1097280"/>
            <a:ext cx="10515600" cy="16459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1BAF3EC-96ED-627A-D8DF-71B5521F8C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23150"/>
            <a:ext cx="12192000" cy="850392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DED7F42-DE45-0982-D0EE-364673037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1" y="3529584"/>
            <a:ext cx="7114032" cy="2103120"/>
          </a:xfrm>
        </p:spPr>
        <p:txBody>
          <a:bodyPr/>
          <a:lstStyle>
            <a:lvl1pPr marL="342900" indent="-3429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6B366AA0-2DAB-8B01-E9CA-4EFD01184A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1" y="3529584"/>
            <a:ext cx="3017520" cy="2103120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3AD13A-778C-0B94-E890-F60B86ABB58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173738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34822A-F2F6-6134-01C8-6CB9A884CDD6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0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B294162-C98D-D8F6-47BD-4CE34B63F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1" y="822960"/>
            <a:ext cx="6126480" cy="19202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19AD1-1029-1DE8-E36D-41EF92EDB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2048" y="822960"/>
            <a:ext cx="4069081" cy="190195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283464">
              <a:defRPr sz="1600">
                <a:solidFill>
                  <a:schemeClr val="bg1"/>
                </a:solidFill>
              </a:defRPr>
            </a:lvl2pPr>
            <a:lvl3pPr marL="566928">
              <a:defRPr sz="1400">
                <a:solidFill>
                  <a:schemeClr val="bg1"/>
                </a:solidFill>
              </a:defRPr>
            </a:lvl3pPr>
            <a:lvl4pPr marL="859536">
              <a:defRPr sz="1200">
                <a:solidFill>
                  <a:schemeClr val="bg1"/>
                </a:solidFill>
              </a:defRPr>
            </a:lvl4pPr>
            <a:lvl5pPr marL="1152144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FC01E54-865D-1B08-43CC-2D0128CEC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57016"/>
            <a:ext cx="12192000" cy="3300984"/>
          </a:xfrm>
          <a:solidFill>
            <a:schemeClr val="accent4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422ED3-8684-C41B-4675-BBDC2C8E5B5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73738" y="625449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E6B05-7A34-DD4C-91AD-29F26B6F9C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8000"/>
                  </a:schemeClr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3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F663A-C2C8-12B2-AE7C-318452D5F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BFC1D-3B9C-EFD1-A014-1F648ADDB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7705" y="6181344"/>
            <a:ext cx="670560" cy="676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>
                <a:solidFill>
                  <a:schemeClr val="tx1">
                    <a:alpha val="78000"/>
                  </a:schemeClr>
                </a:solidFill>
              </a:defRPr>
            </a:lvl1pPr>
          </a:lstStyle>
          <a:p>
            <a:fld id="{8058A7CE-F400-7B46-9E16-10D36E8C32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B6EF3F5B-2BD7-A240-5E66-C3D2B092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9A4BCD-3A82-7BB7-3BDC-2B533BA40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1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3" r:id="rId4"/>
    <p:sldLayoutId id="2147483669" r:id="rId5"/>
    <p:sldLayoutId id="2147483666" r:id="rId6"/>
    <p:sldLayoutId id="2147483661" r:id="rId7"/>
    <p:sldLayoutId id="2147483667" r:id="rId8"/>
    <p:sldLayoutId id="2147483670" r:id="rId9"/>
    <p:sldLayoutId id="2147483663" r:id="rId10"/>
    <p:sldLayoutId id="2147483671" r:id="rId11"/>
    <p:sldLayoutId id="2147483672" r:id="rId12"/>
    <p:sldLayoutId id="214748366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859536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52144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44752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4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276F-A4A9-A231-C4E7-2F6FF428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822325"/>
            <a:ext cx="4389438" cy="1920875"/>
          </a:xfrm>
        </p:spPr>
        <p:txBody>
          <a:bodyPr/>
          <a:lstStyle/>
          <a:p>
            <a:r>
              <a:rPr lang="en-IN" dirty="0"/>
              <a:t>GLOBAL ANIMAL EXTINCTION INTELLIGENCE PLATFORM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5BB989-36AC-84F2-E801-2007E2DA42C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31444" y="6709012"/>
            <a:ext cx="460556" cy="4571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0CACE-A78B-80CC-929F-C98D7F55A365}"/>
              </a:ext>
            </a:extLst>
          </p:cNvPr>
          <p:cNvSpPr txBox="1"/>
          <p:nvPr/>
        </p:nvSpPr>
        <p:spPr>
          <a:xfrm>
            <a:off x="2645824" y="315086"/>
            <a:ext cx="690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ANIMAL EXTINCTION INTELLIGENCE 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CE5212-5692-E46B-B19A-30686C50C66C}"/>
              </a:ext>
            </a:extLst>
          </p:cNvPr>
          <p:cNvSpPr txBox="1"/>
          <p:nvPr/>
        </p:nvSpPr>
        <p:spPr>
          <a:xfrm>
            <a:off x="5477688" y="840317"/>
            <a:ext cx="1236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- 2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33319-8999-8964-560A-582EB9053B44}"/>
              </a:ext>
            </a:extLst>
          </p:cNvPr>
          <p:cNvSpPr txBox="1"/>
          <p:nvPr/>
        </p:nvSpPr>
        <p:spPr>
          <a:xfrm>
            <a:off x="5258614" y="1625654"/>
            <a:ext cx="172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65DD7-E91C-DB00-1980-3743EF8AAF5E}"/>
              </a:ext>
            </a:extLst>
          </p:cNvPr>
          <p:cNvSpPr txBox="1"/>
          <p:nvPr/>
        </p:nvSpPr>
        <p:spPr>
          <a:xfrm>
            <a:off x="4615432" y="2150885"/>
            <a:ext cx="29611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Bhanu – 2420090082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Abhinav – 2420090086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Vishvak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2420090024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81432-72A6-49A1-B387-FCC9F19239B7}"/>
              </a:ext>
            </a:extLst>
          </p:cNvPr>
          <p:cNvSpPr txBox="1"/>
          <p:nvPr/>
        </p:nvSpPr>
        <p:spPr>
          <a:xfrm>
            <a:off x="4351289" y="3527381"/>
            <a:ext cx="3489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Dr. N. Sirisha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A10C34-1E48-705D-5451-AFD803AE9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717" y="4209667"/>
            <a:ext cx="4150560" cy="15111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A55691-82C3-84C0-4BB4-2AF926D2F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3" y="0"/>
            <a:ext cx="1724709" cy="62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43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B0A024-4E06-BC4D-6379-140FB0CA4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626" y="450427"/>
            <a:ext cx="7745307" cy="1556173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39A915F-4535-0AC8-B3DC-DA14AB24B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625" y="2006599"/>
            <a:ext cx="7076441" cy="3640667"/>
          </a:xfrm>
        </p:spPr>
        <p:txBody>
          <a:bodyPr/>
          <a:lstStyle/>
          <a:p>
            <a:pPr lvl="0"/>
            <a:r>
              <a:rPr lang="en-IN" sz="2000" dirty="0"/>
              <a:t>1, To collect animal and environmental data from multiple sources. </a:t>
            </a:r>
          </a:p>
          <a:p>
            <a:pPr lvl="0"/>
            <a:r>
              <a:rPr lang="en-IN" sz="2000" dirty="0"/>
              <a:t>2, To clean, transform, and integrate the collected data using an ELT pipeline. </a:t>
            </a:r>
          </a:p>
          <a:p>
            <a:pPr lvl="0"/>
            <a:r>
              <a:rPr lang="en-IN" sz="2000" dirty="0"/>
              <a:t>3, To analyze species information, population trends, threats, and geographical distribution. </a:t>
            </a:r>
          </a:p>
          <a:p>
            <a:pPr lvl="0"/>
            <a:r>
              <a:rPr lang="en-IN" sz="2000" dirty="0"/>
              <a:t>4, To apply AI/ML techniques to identify patterns related to species extinction risk. </a:t>
            </a:r>
          </a:p>
          <a:p>
            <a:pPr lvl="0"/>
            <a:r>
              <a:rPr lang="en-IN" sz="2000" dirty="0"/>
              <a:t>5, To provide meaningful insights through interactive dashboards and maps.</a:t>
            </a:r>
          </a:p>
        </p:txBody>
      </p:sp>
      <p:pic>
        <p:nvPicPr>
          <p:cNvPr id="16" name="Picture Placeholder 15" descr="Butterfly on a stick">
            <a:extLst>
              <a:ext uri="{FF2B5EF4-FFF2-40B4-BE49-F238E27FC236}">
                <a16:creationId xmlns:a16="http://schemas.microsoft.com/office/drawing/2014/main" id="{1FFACDF2-AF68-34D8-169A-35C6DD86987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3" b="43"/>
          <a:stretch/>
        </p:blipFill>
        <p:spPr>
          <a:xfrm>
            <a:off x="7793736" y="2"/>
            <a:ext cx="4398264" cy="6857999"/>
          </a:xfrm>
        </p:spPr>
      </p:pic>
    </p:spTree>
    <p:extLst>
      <p:ext uri="{BB962C8B-B14F-4D97-AF65-F5344CB8AC3E}">
        <p14:creationId xmlns:p14="http://schemas.microsoft.com/office/powerpoint/2010/main" val="346739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A47513-EEDB-7E18-A210-F20CDDF5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1" y="2102950"/>
            <a:ext cx="4937760" cy="567267"/>
          </a:xfrm>
        </p:spPr>
        <p:txBody>
          <a:bodyPr anchor="b" anchorCtr="0">
            <a:normAutofit/>
          </a:bodyPr>
          <a:lstStyle/>
          <a:p>
            <a:r>
              <a:rPr lang="en-IN" dirty="0"/>
              <a:t>Literature Survey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4F1638-A27B-9557-C43F-C3F20F68C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3640" y="687494"/>
            <a:ext cx="5369560" cy="4417907"/>
          </a:xfrm>
        </p:spPr>
        <p:txBody>
          <a:bodyPr anchor="ctr" anchorCtr="0"/>
          <a:lstStyle/>
          <a:p>
            <a:pPr lvl="0"/>
            <a:r>
              <a:rPr lang="en-IN" b="1" dirty="0"/>
              <a:t>IUCN Red List:</a:t>
            </a:r>
            <a:r>
              <a:rPr lang="en-IN" dirty="0"/>
              <a:t> Provides information about species, conservation status, threats, and extinction risk. </a:t>
            </a:r>
          </a:p>
          <a:p>
            <a:pPr lvl="0"/>
            <a:r>
              <a:rPr lang="en-IN" b="1" dirty="0"/>
              <a:t>GBIF:</a:t>
            </a:r>
            <a:r>
              <a:rPr lang="en-IN" dirty="0"/>
              <a:t> Provides large-scale biodiversity and species occurrence data from different sources. </a:t>
            </a:r>
          </a:p>
          <a:p>
            <a:pPr lvl="0"/>
            <a:r>
              <a:rPr lang="en-IN" b="1" dirty="0"/>
              <a:t>Existing ML Research:</a:t>
            </a:r>
            <a:r>
              <a:rPr lang="en-IN" dirty="0"/>
              <a:t> Machine learning techniques have been used to predict and analyze extinction risk using species and environmental features. </a:t>
            </a:r>
          </a:p>
          <a:p>
            <a:pPr lvl="0"/>
            <a:r>
              <a:rPr lang="en-IN" b="1" dirty="0"/>
              <a:t>Research Gap:</a:t>
            </a:r>
            <a:r>
              <a:rPr lang="en-IN" dirty="0"/>
              <a:t> Existing sources provide valuable information separately, but integrating species, threat, environmental, and geographical data into a single analytics platform remains challenging.</a:t>
            </a:r>
          </a:p>
        </p:txBody>
      </p:sp>
      <p:pic>
        <p:nvPicPr>
          <p:cNvPr id="8" name="Picture Placeholder 7" descr="Abstract">
            <a:extLst>
              <a:ext uri="{FF2B5EF4-FFF2-40B4-BE49-F238E27FC236}">
                <a16:creationId xmlns:a16="http://schemas.microsoft.com/office/drawing/2014/main" id="{04FC4C54-02AE-6F78-5D5A-C4A3504334F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76" b="76"/>
          <a:stretch/>
        </p:blipFill>
        <p:spPr>
          <a:xfrm>
            <a:off x="1" y="4471416"/>
            <a:ext cx="12192000" cy="2386584"/>
          </a:xfrm>
        </p:spPr>
      </p:pic>
    </p:spTree>
    <p:extLst>
      <p:ext uri="{BB962C8B-B14F-4D97-AF65-F5344CB8AC3E}">
        <p14:creationId xmlns:p14="http://schemas.microsoft.com/office/powerpoint/2010/main" val="125394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96B25F-1BBC-028F-2886-86951B4A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827" y="768096"/>
            <a:ext cx="4189307" cy="658368"/>
          </a:xfrm>
        </p:spPr>
        <p:txBody>
          <a:bodyPr/>
          <a:lstStyle/>
          <a:p>
            <a:r>
              <a:rPr lang="en-IN" dirty="0"/>
              <a:t>System Architecture</a:t>
            </a:r>
            <a:endParaRPr lang="en-US" dirty="0"/>
          </a:p>
        </p:txBody>
      </p:sp>
      <p:pic>
        <p:nvPicPr>
          <p:cNvPr id="16" name="Picture Placeholder 15" descr="Close up of peacock feathers">
            <a:extLst>
              <a:ext uri="{FF2B5EF4-FFF2-40B4-BE49-F238E27FC236}">
                <a16:creationId xmlns:a16="http://schemas.microsoft.com/office/drawing/2014/main" id="{7305B876-E28E-D690-C27B-94A45B15659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4" r="34"/>
          <a:stretch/>
        </p:blipFill>
        <p:spPr>
          <a:xfrm>
            <a:off x="0" y="0"/>
            <a:ext cx="12192000" cy="658368"/>
          </a:xfrm>
        </p:spPr>
      </p:pic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6A4434E4-FC32-97D1-48E9-FD93D9A992A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4182534" y="5604934"/>
            <a:ext cx="242147" cy="457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A2CC-783A-DE80-F42B-BCA7AA9C84F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1104" y="3529586"/>
            <a:ext cx="2927096" cy="61400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3B0247-F450-ACED-5DF5-B605B802F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08" y="1689273"/>
            <a:ext cx="7481984" cy="454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206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">
      <a:dk1>
        <a:srgbClr val="000000"/>
      </a:dk1>
      <a:lt1>
        <a:srgbClr val="FFFFFF"/>
      </a:lt1>
      <a:dk2>
        <a:srgbClr val="1C4C3C"/>
      </a:dk2>
      <a:lt2>
        <a:srgbClr val="E7E6E6"/>
      </a:lt2>
      <a:accent1>
        <a:srgbClr val="8FA971"/>
      </a:accent1>
      <a:accent2>
        <a:srgbClr val="345496"/>
      </a:accent2>
      <a:accent3>
        <a:srgbClr val="BD7B28"/>
      </a:accent3>
      <a:accent4>
        <a:srgbClr val="00698A"/>
      </a:accent4>
      <a:accent5>
        <a:srgbClr val="648260"/>
      </a:accent5>
      <a:accent6>
        <a:srgbClr val="F1EAE0"/>
      </a:accent6>
      <a:hlink>
        <a:srgbClr val="1B4C3C"/>
      </a:hlink>
      <a:folHlink>
        <a:srgbClr val="BD7B27"/>
      </a:folHlink>
    </a:clrScheme>
    <a:fontScheme name="Custom 12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ture course presentation_win32_EF_v3" id="{6402AD57-DE70-4CBC-820B-73D40CB74EE1}" vid="{026A6399-DEC0-4FFB-89AD-D1F0CBCEBF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34B83F-6906-4689-98C9-AAA52DE98A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C7764E-1B88-4813-902C-6714719B42F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1CD4AE2-8CDF-460B-B8DD-E25B297626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Nature course presentation</Template>
  <TotalTime>31</TotalTime>
  <Words>206</Words>
  <Application>Microsoft Office PowerPoint</Application>
  <PresentationFormat>Widescreen</PresentationFormat>
  <Paragraphs>20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Avenir Next LT Pro</vt:lpstr>
      <vt:lpstr>Avenir Next LT Pro Light</vt:lpstr>
      <vt:lpstr>Calibri</vt:lpstr>
      <vt:lpstr>Times New Roman</vt:lpstr>
      <vt:lpstr>Custom</vt:lpstr>
      <vt:lpstr>GLOBAL ANIMAL EXTINCTION INTELLIGENCE PLATFORM</vt:lpstr>
      <vt:lpstr>objectives</vt:lpstr>
      <vt:lpstr>Literature Survey</vt:lpstr>
      <vt:lpstr>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bhanu</dc:creator>
  <cp:lastModifiedBy>mr bhanu</cp:lastModifiedBy>
  <cp:revision>1</cp:revision>
  <dcterms:created xsi:type="dcterms:W3CDTF">2026-08-27T17:23:25Z</dcterms:created>
  <dcterms:modified xsi:type="dcterms:W3CDTF">2026-08-27T17:55:02Z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